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1D779-7A89-8406-82FF-221A05577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E435A5-0604-C1B4-7CF4-0DCFAE228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BF2747-02F0-2A13-79C0-50831EF6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EF64-BD2B-4E1F-835A-0AC5D2DE09A0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6D9A5C-7A30-F449-85B8-E22E6BB80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B0B3DB-766C-88B7-63ED-4532BFFB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D732D-7870-48FC-9D14-99F1D32E1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206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03933-2771-D6C6-6A5A-C8EB8BFB1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214D01-92C5-42AB-F76F-9EED69A16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F8E67A-9A32-8B2E-9E3F-AC604892D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EF64-BD2B-4E1F-835A-0AC5D2DE09A0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150585-53E7-1E82-D218-CF41B9E75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FC1458-8C5C-A3E3-DD05-A813FA55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D732D-7870-48FC-9D14-99F1D32E1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019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D6C00-8AC1-CF38-A422-B139F37A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9F2F63-4CFD-67F0-CA31-3825CBC24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9B9BD7-C9A8-82CF-D94A-184E5085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EF64-BD2B-4E1F-835A-0AC5D2DE09A0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718C4F-808E-C4FC-4D76-9E4E695AC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BAF373-1C00-ACCD-82B0-77CA35A30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D732D-7870-48FC-9D14-99F1D32E1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348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EFBE0-28EF-BEB3-3F57-2879E3077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52E799-157E-AE3A-68BF-D4F4D9A2A9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D025BD-319B-4399-B902-742EEF426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260941-5F6E-0850-22CA-A30566BA3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EF64-BD2B-4E1F-835A-0AC5D2DE09A0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83EA4D-F018-C578-FFCE-0610B2EC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980088-8B5E-34F1-8F07-3A3905ECE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D732D-7870-48FC-9D14-99F1D32E1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6855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E7368-17BC-9238-620E-BBC72346E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E2FC2A-1E2E-7AE6-B882-65CAFDDBF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1698CC-BEB9-E489-AEB8-5BE1A505A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060AA7D-3C53-8920-2120-04F693FC47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D258720-A9F7-89BC-1F81-AC5100257F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EEAFAC-7632-E85F-6DED-1DBBAB0D1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EF64-BD2B-4E1F-835A-0AC5D2DE09A0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C041EC-6D67-4440-2674-2C6C33F6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18306BE-4632-E848-AF05-F411F9E4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D732D-7870-48FC-9D14-99F1D32E1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88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2C6619-682E-BA26-F7CB-3A3AAB9F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5E4B359-FA0F-CA2A-BA8C-637D90167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EF64-BD2B-4E1F-835A-0AC5D2DE09A0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E021F83-9CEB-3839-43D0-BD38A8736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542694D-5263-9C8F-A0D1-B8465C032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D732D-7870-48FC-9D14-99F1D32E1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162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E34C73-A1CE-02A2-ECFF-D8C791C67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EF64-BD2B-4E1F-835A-0AC5D2DE09A0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D26131-B03D-8DB9-221B-D8605248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17E650-FC03-4BBF-C5E3-39B24FD28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D732D-7870-48FC-9D14-99F1D32E1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7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6DC26-538A-E08C-6F7B-EEEB41D01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90A5A2-A951-6D5E-F7B4-7135D2FAC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C7A7C6-B1F9-A0D6-8327-CE9F8B0CC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34C98D-1093-D1A1-CDF2-D764D19C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EF64-BD2B-4E1F-835A-0AC5D2DE09A0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9C3179-5F7B-444A-A137-447FD7677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A1FE6C-B696-C129-8394-3D7208F52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D732D-7870-48FC-9D14-99F1D32E1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134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0E083-6B79-99D8-743C-DC05A491B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D93A56E-BE11-3FF9-2159-87490E2065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874940-F8CC-C78F-7A94-4590C8714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DEE67F-2A00-6FB0-0E51-4B5984B3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EF64-BD2B-4E1F-835A-0AC5D2DE09A0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9BCB5F-92D9-DB2F-CB43-9ADCE3EE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25F822-B1F1-D728-B397-D3B637FE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D732D-7870-48FC-9D14-99F1D32E1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9592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9A3FD-1189-2662-B70A-C713F314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C46631-34B3-3E9A-815C-6AFB9E9F5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707E00-2F53-C5C8-9DDF-B59D9A12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EF64-BD2B-4E1F-835A-0AC5D2DE09A0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44A901-2792-6CB0-F20B-40103222C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00CC98-896D-52E9-B629-78F1F860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D732D-7870-48FC-9D14-99F1D32E1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253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727E5E-8BDA-0542-5C0C-6D9CAD7250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93C7485-A833-6314-12FF-00CB8473C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3012BD-5A4B-6A98-3D52-46CD9C29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BEF64-BD2B-4E1F-835A-0AC5D2DE09A0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C2216C-01EC-2CFB-0C08-8AB517A4E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11C431-50C4-44DF-445B-B110F281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D732D-7870-48FC-9D14-99F1D32E1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545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E1332F0-02F8-6D12-1944-57EC3C0C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30FD21-BBAC-920B-100D-B85195393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A400D0-FD05-8D24-1806-A6DAAD0024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BEF64-BD2B-4E1F-835A-0AC5D2DE09A0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C390CE-D7BA-24D5-B277-E419F9B27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7AC046-6D19-5FCB-804E-08EEF1803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D732D-7870-48FC-9D14-99F1D32E14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943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5587F4B-5B1C-ED32-484E-8D7EE28BAF1C}"/>
              </a:ext>
            </a:extLst>
          </p:cNvPr>
          <p:cNvSpPr txBox="1"/>
          <p:nvPr/>
        </p:nvSpPr>
        <p:spPr>
          <a:xfrm>
            <a:off x="393700" y="3937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Arial" panose="020B0604020202020204" pitchFamily="34" charset="0"/>
              </a:rPr>
              <a:t>ATIVIDADE AVALIATIVA 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3E87B1-363C-67A3-564B-DE1B9AF066DA}"/>
              </a:ext>
            </a:extLst>
          </p:cNvPr>
          <p:cNvSpPr txBox="1"/>
          <p:nvPr/>
        </p:nvSpPr>
        <p:spPr>
          <a:xfrm>
            <a:off x="8890000" y="393700"/>
            <a:ext cx="290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600" b="1">
                <a:solidFill>
                  <a:srgbClr val="000000"/>
                </a:solidFill>
                <a:latin typeface="Arial" panose="020B0604020202020204" pitchFamily="34" charset="0"/>
              </a:rPr>
              <a:t>30/06/2026</a:t>
            </a:r>
          </a:p>
        </p:txBody>
      </p:sp>
      <p:sp>
        <p:nvSpPr>
          <p:cNvPr id="4" name="deck-title">
            <a:extLst>
              <a:ext uri="{FF2B5EF4-FFF2-40B4-BE49-F238E27FC236}">
                <a16:creationId xmlns:a16="http://schemas.microsoft.com/office/drawing/2014/main" id="{7B21DDE2-A893-8BDD-889E-D40EFEC184C3}"/>
              </a:ext>
            </a:extLst>
          </p:cNvPr>
          <p:cNvSpPr txBox="1"/>
          <p:nvPr/>
        </p:nvSpPr>
        <p:spPr>
          <a:xfrm>
            <a:off x="393700" y="3835400"/>
            <a:ext cx="944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pt-BR" sz="5400">
                <a:solidFill>
                  <a:srgbClr val="000000"/>
                </a:solidFill>
                <a:latin typeface="Arial" panose="020B0604020202020204" pitchFamily="34" charset="0"/>
              </a:rPr>
              <a:t>Testes E2E
Biblioteca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B9E72D-4664-7643-F6F0-CC596890FAF6}"/>
              </a:ext>
            </a:extLst>
          </p:cNvPr>
          <p:cNvSpPr txBox="1"/>
          <p:nvPr/>
        </p:nvSpPr>
        <p:spPr>
          <a:xfrm>
            <a:off x="393700" y="61341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 b="1">
                <a:solidFill>
                  <a:srgbClr val="FF6B35"/>
                </a:solidFill>
                <a:latin typeface="Arial" panose="020B0604020202020204" pitchFamily="34" charset="0"/>
              </a:rPr>
              <a:t>PLAYWRIGHT + DOCKER</a:t>
            </a:r>
          </a:p>
        </p:txBody>
      </p:sp>
    </p:spTree>
    <p:extLst>
      <p:ext uri="{BB962C8B-B14F-4D97-AF65-F5344CB8AC3E}">
        <p14:creationId xmlns:p14="http://schemas.microsoft.com/office/powerpoint/2010/main" val="205972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>
            <a:extLst>
              <a:ext uri="{FF2B5EF4-FFF2-40B4-BE49-F238E27FC236}">
                <a16:creationId xmlns:a16="http://schemas.microsoft.com/office/drawing/2014/main" id="{72697858-0C83-6401-627E-C7DA3239B294}"/>
              </a:ext>
            </a:extLst>
          </p:cNvPr>
          <p:cNvSpPr txBox="1"/>
          <p:nvPr/>
        </p:nvSpPr>
        <p:spPr>
          <a:xfrm>
            <a:off x="393700" y="342900"/>
            <a:ext cx="1140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500">
                <a:solidFill>
                  <a:srgbClr val="000000"/>
                </a:solidFill>
                <a:latin typeface="Arial" panose="020B0604020202020204" pitchFamily="34" charset="0"/>
              </a:rPr>
              <a:t>O que precisava ser entregue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F4913C7-9064-5ABC-DB4F-17E7424BE8F1}"/>
              </a:ext>
            </a:extLst>
          </p:cNvPr>
          <p:cNvSpPr txBox="1"/>
          <p:nvPr/>
        </p:nvSpPr>
        <p:spPr>
          <a:xfrm>
            <a:off x="11277600" y="62738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55555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6A312E3-3EBF-23B8-ECF8-E15CC418324C}"/>
              </a:ext>
            </a:extLst>
          </p:cNvPr>
          <p:cNvSpPr txBox="1"/>
          <p:nvPr/>
        </p:nvSpPr>
        <p:spPr>
          <a:xfrm>
            <a:off x="393700" y="2032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b="1">
                <a:solidFill>
                  <a:srgbClr val="FF6B35"/>
                </a:solidFill>
                <a:latin typeface="Arial" panose="020B0604020202020204" pitchFamily="34" charset="0"/>
              </a:rPr>
              <a:t>APLICAÇÃO ESCOLHIDA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68655F-A313-1818-6ADC-2034E0377381}"/>
              </a:ext>
            </a:extLst>
          </p:cNvPr>
          <p:cNvSpPr txBox="1"/>
          <p:nvPr/>
        </p:nvSpPr>
        <p:spPr>
          <a:xfrm>
            <a:off x="393700" y="2578100"/>
            <a:ext cx="513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qa-atividade-avaliativa-2
CRUD direto e adequado às três etapas exigidas: listar/criar, editar e excluir.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6934471-EC97-F485-AA8B-CD2C13F6D93E}"/>
              </a:ext>
            </a:extLst>
          </p:cNvPr>
          <p:cNvSpPr txBox="1"/>
          <p:nvPr/>
        </p:nvSpPr>
        <p:spPr>
          <a:xfrm>
            <a:off x="6261100" y="2032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b="1">
                <a:solidFill>
                  <a:srgbClr val="FF6B35"/>
                </a:solidFill>
                <a:latin typeface="Arial" panose="020B0604020202020204" pitchFamily="34" charset="0"/>
              </a:rPr>
              <a:t>ESTRATÉGIA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CB5635-E1EE-21E7-BD86-6DCBFB1B6FF6}"/>
              </a:ext>
            </a:extLst>
          </p:cNvPr>
          <p:cNvSpPr txBox="1"/>
          <p:nvPr/>
        </p:nvSpPr>
        <p:spPr>
          <a:xfrm>
            <a:off x="6261100" y="2578100"/>
            <a:ext cx="513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Playwright com Chromium
Laravel + MySQL + testes isolados em Docker Compose.
Mesmo fluxo local e no GitHub Actions.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AFF150C-9A12-8E63-63E7-D41C80663E62}"/>
              </a:ext>
            </a:extLst>
          </p:cNvPr>
          <p:cNvSpPr txBox="1"/>
          <p:nvPr/>
        </p:nvSpPr>
        <p:spPr>
          <a:xfrm>
            <a:off x="393700" y="57912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200">
                <a:solidFill>
                  <a:srgbClr val="555555"/>
                </a:solidFill>
                <a:latin typeface="Arial" panose="020B0604020202020204" pitchFamily="34" charset="0"/>
              </a:rPr>
              <a:t>github.com/guilherme-ferraz/qa-atividade-avaliativa-2</a:t>
            </a:r>
          </a:p>
        </p:txBody>
      </p:sp>
    </p:spTree>
    <p:extLst>
      <p:ext uri="{BB962C8B-B14F-4D97-AF65-F5344CB8AC3E}">
        <p14:creationId xmlns:p14="http://schemas.microsoft.com/office/powerpoint/2010/main" val="378485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>
            <a:extLst>
              <a:ext uri="{FF2B5EF4-FFF2-40B4-BE49-F238E27FC236}">
                <a16:creationId xmlns:a16="http://schemas.microsoft.com/office/drawing/2014/main" id="{AF52C996-58E8-5990-5477-1472856A1FDE}"/>
              </a:ext>
            </a:extLst>
          </p:cNvPr>
          <p:cNvSpPr txBox="1"/>
          <p:nvPr/>
        </p:nvSpPr>
        <p:spPr>
          <a:xfrm>
            <a:off x="393700" y="342900"/>
            <a:ext cx="1140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500">
                <a:solidFill>
                  <a:srgbClr val="000000"/>
                </a:solidFill>
                <a:latin typeface="Arial" panose="020B0604020202020204" pitchFamily="34" charset="0"/>
              </a:rPr>
              <a:t>Um comando sobe todo o ambiente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7BD2A3-DFC7-C497-FC10-C3A44E356EF5}"/>
              </a:ext>
            </a:extLst>
          </p:cNvPr>
          <p:cNvSpPr txBox="1"/>
          <p:nvPr/>
        </p:nvSpPr>
        <p:spPr>
          <a:xfrm>
            <a:off x="11277600" y="62738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55555"/>
                </a:solidFill>
                <a:latin typeface="Arial" panose="020B0604020202020204" pitchFamily="34" charset="0"/>
              </a:rPr>
              <a:t>3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7881F20-0C6C-1B6C-CD98-08D9BC969F2A}"/>
              </a:ext>
            </a:extLst>
          </p:cNvPr>
          <p:cNvCxnSpPr/>
          <p:nvPr/>
        </p:nvCxnSpPr>
        <p:spPr>
          <a:xfrm>
            <a:off x="3505200" y="3454400"/>
            <a:ext cx="8128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4D74E6F-36C7-4FA9-302F-1738DAB47F16}"/>
              </a:ext>
            </a:extLst>
          </p:cNvPr>
          <p:cNvCxnSpPr/>
          <p:nvPr/>
        </p:nvCxnSpPr>
        <p:spPr>
          <a:xfrm>
            <a:off x="7848600" y="3454400"/>
            <a:ext cx="812800" cy="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BA7578C8-C143-457B-402E-A142692A7B08}"/>
              </a:ext>
            </a:extLst>
          </p:cNvPr>
          <p:cNvSpPr txBox="1"/>
          <p:nvPr/>
        </p:nvSpPr>
        <p:spPr>
          <a:xfrm>
            <a:off x="393700" y="23368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FF6B35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89B05E3-69A4-7A75-5625-263A410AEDD6}"/>
              </a:ext>
            </a:extLst>
          </p:cNvPr>
          <p:cNvSpPr txBox="1"/>
          <p:nvPr/>
        </p:nvSpPr>
        <p:spPr>
          <a:xfrm>
            <a:off x="393700" y="2794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400" b="1">
                <a:solidFill>
                  <a:srgbClr val="000000"/>
                </a:solidFill>
                <a:latin typeface="Arial" panose="020B0604020202020204" pitchFamily="34" charset="0"/>
              </a:rPr>
              <a:t>MySQL 8.4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E72E912-B116-9F9F-C27B-EF2C2B6C1ED7}"/>
              </a:ext>
            </a:extLst>
          </p:cNvPr>
          <p:cNvSpPr txBox="1"/>
          <p:nvPr/>
        </p:nvSpPr>
        <p:spPr>
          <a:xfrm>
            <a:off x="393700" y="3683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Banco isolado
Healthcheck
Migrations + seed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F919EA-EFAB-B3F9-5775-C771C72013FF}"/>
              </a:ext>
            </a:extLst>
          </p:cNvPr>
          <p:cNvSpPr txBox="1"/>
          <p:nvPr/>
        </p:nvSpPr>
        <p:spPr>
          <a:xfrm>
            <a:off x="4318000" y="23368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FF6B35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F609C53-1B26-F579-5F50-1C15B10FA81A}"/>
              </a:ext>
            </a:extLst>
          </p:cNvPr>
          <p:cNvSpPr txBox="1"/>
          <p:nvPr/>
        </p:nvSpPr>
        <p:spPr>
          <a:xfrm>
            <a:off x="4318000" y="2794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400" b="1">
                <a:solidFill>
                  <a:srgbClr val="000000"/>
                </a:solidFill>
                <a:latin typeface="Arial" panose="020B0604020202020204" pitchFamily="34" charset="0"/>
              </a:rPr>
              <a:t>Laravel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9702A1C-0BE4-0F06-A70C-9DBD5C4A2D66}"/>
              </a:ext>
            </a:extLst>
          </p:cNvPr>
          <p:cNvSpPr txBox="1"/>
          <p:nvPr/>
        </p:nvSpPr>
        <p:spPr>
          <a:xfrm>
            <a:off x="4318000" y="3683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Aplicação sob teste
Commit fixado
Correções de CRUD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8F736D5-EB3E-7CC5-B87A-1E317D141D5A}"/>
              </a:ext>
            </a:extLst>
          </p:cNvPr>
          <p:cNvSpPr txBox="1"/>
          <p:nvPr/>
        </p:nvSpPr>
        <p:spPr>
          <a:xfrm>
            <a:off x="8661400" y="23368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FF6B35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5D47715-8602-5706-62EA-8D7600BD04CA}"/>
              </a:ext>
            </a:extLst>
          </p:cNvPr>
          <p:cNvSpPr txBox="1"/>
          <p:nvPr/>
        </p:nvSpPr>
        <p:spPr>
          <a:xfrm>
            <a:off x="8661400" y="2794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400" b="1">
                <a:solidFill>
                  <a:srgbClr val="000000"/>
                </a:solidFill>
                <a:latin typeface="Arial" panose="020B0604020202020204" pitchFamily="34" charset="0"/>
              </a:rPr>
              <a:t>Playwright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ECEB9E-FBCE-2F89-7681-5D49AE564A35}"/>
              </a:ext>
            </a:extLst>
          </p:cNvPr>
          <p:cNvSpPr txBox="1"/>
          <p:nvPr/>
        </p:nvSpPr>
        <p:spPr>
          <a:xfrm>
            <a:off x="8661400" y="3683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Chromium oficial
1 worker serial
Relatório HTML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6D428B9-FEE8-D604-9352-219EC6BA5737}"/>
              </a:ext>
            </a:extLst>
          </p:cNvPr>
          <p:cNvSpPr txBox="1"/>
          <p:nvPr/>
        </p:nvSpPr>
        <p:spPr>
          <a:xfrm>
            <a:off x="393700" y="5753100"/>
            <a:ext cx="1140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2000" b="1">
                <a:solidFill>
                  <a:srgbClr val="000000"/>
                </a:solidFill>
                <a:latin typeface="Arial" panose="020B0604020202020204" pitchFamily="34" charset="0"/>
              </a:rPr>
              <a:t>docker compose up --build</a:t>
            </a:r>
          </a:p>
        </p:txBody>
      </p:sp>
    </p:spTree>
    <p:extLst>
      <p:ext uri="{BB962C8B-B14F-4D97-AF65-F5344CB8AC3E}">
        <p14:creationId xmlns:p14="http://schemas.microsoft.com/office/powerpoint/2010/main" val="1481230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>
            <a:extLst>
              <a:ext uri="{FF2B5EF4-FFF2-40B4-BE49-F238E27FC236}">
                <a16:creationId xmlns:a16="http://schemas.microsoft.com/office/drawing/2014/main" id="{189C394F-E6EF-1119-CE7F-BAD2A64987BB}"/>
              </a:ext>
            </a:extLst>
          </p:cNvPr>
          <p:cNvSpPr txBox="1"/>
          <p:nvPr/>
        </p:nvSpPr>
        <p:spPr>
          <a:xfrm>
            <a:off x="393700" y="342900"/>
            <a:ext cx="1140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500">
                <a:solidFill>
                  <a:srgbClr val="000000"/>
                </a:solidFill>
                <a:latin typeface="Arial" panose="020B0604020202020204" pitchFamily="34" charset="0"/>
              </a:rPr>
              <a:t>Cobertura da jornada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306FD99-1990-EF2D-F530-727AFBF7E5F4}"/>
              </a:ext>
            </a:extLst>
          </p:cNvPr>
          <p:cNvSpPr txBox="1"/>
          <p:nvPr/>
        </p:nvSpPr>
        <p:spPr>
          <a:xfrm>
            <a:off x="11277600" y="62738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55555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44BFF8-E8EC-64FE-8E01-E8BDFBB11360}"/>
              </a:ext>
            </a:extLst>
          </p:cNvPr>
          <p:cNvSpPr txBox="1"/>
          <p:nvPr/>
        </p:nvSpPr>
        <p:spPr>
          <a:xfrm>
            <a:off x="6261100" y="393700"/>
            <a:ext cx="553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>
                <a:solidFill>
                  <a:srgbClr val="555555"/>
                </a:solidFill>
                <a:latin typeface="Arial" panose="020B0604020202020204" pitchFamily="34" charset="0"/>
              </a:rPr>
              <a:t>Os testes reproduzem ações reais pela interface.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C51C936-2111-18C4-03B1-CF68F16DABF4}"/>
              </a:ext>
            </a:extLst>
          </p:cNvPr>
          <p:cNvSpPr/>
          <p:nvPr/>
        </p:nvSpPr>
        <p:spPr>
          <a:xfrm>
            <a:off x="393700" y="2032000"/>
            <a:ext cx="2590800" cy="26670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9EB88CA-2204-E119-0B57-5429A273FB88}"/>
              </a:ext>
            </a:extLst>
          </p:cNvPr>
          <p:cNvSpPr txBox="1"/>
          <p:nvPr/>
        </p:nvSpPr>
        <p:spPr>
          <a:xfrm>
            <a:off x="647700" y="23749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4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015474-91FF-2A61-BDAA-EB880F916998}"/>
              </a:ext>
            </a:extLst>
          </p:cNvPr>
          <p:cNvSpPr txBox="1"/>
          <p:nvPr/>
        </p:nvSpPr>
        <p:spPr>
          <a:xfrm>
            <a:off x="673100" y="38481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>
                <a:solidFill>
                  <a:srgbClr val="000000"/>
                </a:solidFill>
                <a:latin typeface="Arial" panose="020B0604020202020204" pitchFamily="34" charset="0"/>
              </a:rPr>
              <a:t>etapas exatamente como no enunciado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78AC5FC-F346-6DFC-9AA8-49A3DAD726A0}"/>
              </a:ext>
            </a:extLst>
          </p:cNvPr>
          <p:cNvSpPr/>
          <p:nvPr/>
        </p:nvSpPr>
        <p:spPr>
          <a:xfrm>
            <a:off x="3340100" y="2032000"/>
            <a:ext cx="2590800" cy="26670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3B2C9D9-17BB-1874-95CE-8D6A6D204E26}"/>
              </a:ext>
            </a:extLst>
          </p:cNvPr>
          <p:cNvSpPr txBox="1"/>
          <p:nvPr/>
        </p:nvSpPr>
        <p:spPr>
          <a:xfrm>
            <a:off x="3594100" y="23749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4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37FD44C-2699-D8CA-E470-A09834D1B76F}"/>
              </a:ext>
            </a:extLst>
          </p:cNvPr>
          <p:cNvSpPr txBox="1"/>
          <p:nvPr/>
        </p:nvSpPr>
        <p:spPr>
          <a:xfrm>
            <a:off x="3619500" y="38481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>
                <a:solidFill>
                  <a:srgbClr val="000000"/>
                </a:solidFill>
                <a:latin typeface="Arial" panose="020B0604020202020204" pitchFamily="34" charset="0"/>
              </a:rPr>
              <a:t>cadastros cobertos no CRUD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FC8EFFD-48D0-3473-EAC6-5A1D54F5E9A7}"/>
              </a:ext>
            </a:extLst>
          </p:cNvPr>
          <p:cNvSpPr/>
          <p:nvPr/>
        </p:nvSpPr>
        <p:spPr>
          <a:xfrm>
            <a:off x="6273800" y="2032000"/>
            <a:ext cx="2590800" cy="26670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96750AE-097E-E726-205E-DB3C5365BCD5}"/>
              </a:ext>
            </a:extLst>
          </p:cNvPr>
          <p:cNvSpPr txBox="1"/>
          <p:nvPr/>
        </p:nvSpPr>
        <p:spPr>
          <a:xfrm>
            <a:off x="6527800" y="23749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4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7847D47-2A21-9BB1-69B2-269A839797C9}"/>
              </a:ext>
            </a:extLst>
          </p:cNvPr>
          <p:cNvSpPr txBox="1"/>
          <p:nvPr/>
        </p:nvSpPr>
        <p:spPr>
          <a:xfrm>
            <a:off x="6553200" y="38481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>
                <a:solidFill>
                  <a:srgbClr val="000000"/>
                </a:solidFill>
                <a:latin typeface="Arial" panose="020B0604020202020204" pitchFamily="34" charset="0"/>
              </a:rPr>
              <a:t>associação pessoa-biblioteca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3C1EF7D-C913-164A-393E-1E5CDE28C9EE}"/>
              </a:ext>
            </a:extLst>
          </p:cNvPr>
          <p:cNvSpPr/>
          <p:nvPr/>
        </p:nvSpPr>
        <p:spPr>
          <a:xfrm>
            <a:off x="9220200" y="2032000"/>
            <a:ext cx="2590800" cy="26670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620FFC7-C924-47D3-104E-C3DBBF44B38A}"/>
              </a:ext>
            </a:extLst>
          </p:cNvPr>
          <p:cNvSpPr txBox="1"/>
          <p:nvPr/>
        </p:nvSpPr>
        <p:spPr>
          <a:xfrm>
            <a:off x="9474200" y="23749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4400">
                <a:solidFill>
                  <a:srgbClr val="000000"/>
                </a:solidFill>
                <a:latin typeface="Arial" panose="020B0604020202020204" pitchFamily="34" charset="0"/>
              </a:rPr>
              <a:t>100%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271D8B4-F67C-BF9A-FEA0-D227C94B408B}"/>
              </a:ext>
            </a:extLst>
          </p:cNvPr>
          <p:cNvSpPr txBox="1"/>
          <p:nvPr/>
        </p:nvSpPr>
        <p:spPr>
          <a:xfrm>
            <a:off x="9499600" y="38481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>
                <a:solidFill>
                  <a:srgbClr val="000000"/>
                </a:solidFill>
                <a:latin typeface="Arial" panose="020B0604020202020204" pitchFamily="34" charset="0"/>
              </a:rPr>
              <a:t>dos dados do teste removidos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A2B353D-DEAA-8974-66C2-6D154CC9B7E6}"/>
              </a:ext>
            </a:extLst>
          </p:cNvPr>
          <p:cNvSpPr/>
          <p:nvPr/>
        </p:nvSpPr>
        <p:spPr>
          <a:xfrm>
            <a:off x="0" y="5384800"/>
            <a:ext cx="12192000" cy="14732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ADDC559-BDE2-65C8-18DB-39D2D29FE8F9}"/>
              </a:ext>
            </a:extLst>
          </p:cNvPr>
          <p:cNvSpPr txBox="1"/>
          <p:nvPr/>
        </p:nvSpPr>
        <p:spPr>
          <a:xfrm>
            <a:off x="393700" y="5727700"/>
            <a:ext cx="1140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Cada criação e edição é confirmada na listagem; cada exclusão é verificada pela ausência do registro.</a:t>
            </a:r>
          </a:p>
        </p:txBody>
      </p:sp>
    </p:spTree>
    <p:extLst>
      <p:ext uri="{BB962C8B-B14F-4D97-AF65-F5344CB8AC3E}">
        <p14:creationId xmlns:p14="http://schemas.microsoft.com/office/powerpoint/2010/main" val="108988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>
            <a:extLst>
              <a:ext uri="{FF2B5EF4-FFF2-40B4-BE49-F238E27FC236}">
                <a16:creationId xmlns:a16="http://schemas.microsoft.com/office/drawing/2014/main" id="{6F752139-62D1-E95B-2308-C63CE60B6A2A}"/>
              </a:ext>
            </a:extLst>
          </p:cNvPr>
          <p:cNvSpPr txBox="1"/>
          <p:nvPr/>
        </p:nvSpPr>
        <p:spPr>
          <a:xfrm>
            <a:off x="393700" y="342900"/>
            <a:ext cx="1140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500">
                <a:solidFill>
                  <a:srgbClr val="000000"/>
                </a:solidFill>
                <a:latin typeface="Arial" panose="020B0604020202020204" pitchFamily="34" charset="0"/>
              </a:rPr>
              <a:t>Etapa 1 — acessar, listar e incluir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C17208-BA3D-E4D7-4C6B-EFC804D93B20}"/>
              </a:ext>
            </a:extLst>
          </p:cNvPr>
          <p:cNvSpPr txBox="1"/>
          <p:nvPr/>
        </p:nvSpPr>
        <p:spPr>
          <a:xfrm>
            <a:off x="11277600" y="62738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55555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8AD6216-6A0C-B324-FD58-186CFF753D24}"/>
              </a:ext>
            </a:extLst>
          </p:cNvPr>
          <p:cNvSpPr txBox="1"/>
          <p:nvPr/>
        </p:nvSpPr>
        <p:spPr>
          <a:xfrm>
            <a:off x="393700" y="1739900"/>
            <a:ext cx="553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O teste começa no início da aplicação, visita todas as listagens e cria dados únicos para evitar conflito entre execuções.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F381ACD-E95D-9BFD-4A6B-F3A6C275DB1A}"/>
              </a:ext>
            </a:extLst>
          </p:cNvPr>
          <p:cNvSpPr txBox="1"/>
          <p:nvPr/>
        </p:nvSpPr>
        <p:spPr>
          <a:xfrm>
            <a:off x="393700" y="2984500"/>
            <a:ext cx="5537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ORDEM DO FLUXO
1. Usuário responsável
2. Biblioteca
3. Pessoa
4. Autor
5. Livro
6. Associação pessoa-biblioteca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16396BA-91DB-A196-254F-B0CBDA4562FE}"/>
              </a:ext>
            </a:extLst>
          </p:cNvPr>
          <p:cNvSpPr/>
          <p:nvPr/>
        </p:nvSpPr>
        <p:spPr>
          <a:xfrm>
            <a:off x="7505700" y="3060700"/>
            <a:ext cx="203200" cy="2032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94C0D2-A3D7-ACD4-258B-62D08B55598A}"/>
              </a:ext>
            </a:extLst>
          </p:cNvPr>
          <p:cNvSpPr txBox="1"/>
          <p:nvPr/>
        </p:nvSpPr>
        <p:spPr>
          <a:xfrm>
            <a:off x="7899400" y="3022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Usuários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A4BDA27-52A8-1458-5C49-2B05AD7FF7AD}"/>
              </a:ext>
            </a:extLst>
          </p:cNvPr>
          <p:cNvSpPr/>
          <p:nvPr/>
        </p:nvSpPr>
        <p:spPr>
          <a:xfrm>
            <a:off x="7505700" y="3670300"/>
            <a:ext cx="203200" cy="2032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F7CED1D-D858-B069-11AF-A8AA87A2D251}"/>
              </a:ext>
            </a:extLst>
          </p:cNvPr>
          <p:cNvSpPr txBox="1"/>
          <p:nvPr/>
        </p:nvSpPr>
        <p:spPr>
          <a:xfrm>
            <a:off x="7899400" y="3632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Bibliotecas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1BB8750-D103-32E3-B253-8FC5DBA2A0B7}"/>
              </a:ext>
            </a:extLst>
          </p:cNvPr>
          <p:cNvSpPr/>
          <p:nvPr/>
        </p:nvSpPr>
        <p:spPr>
          <a:xfrm>
            <a:off x="7505700" y="4279900"/>
            <a:ext cx="203200" cy="2032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1398FA7-7A85-9549-7C76-95AC67B28BFB}"/>
              </a:ext>
            </a:extLst>
          </p:cNvPr>
          <p:cNvSpPr txBox="1"/>
          <p:nvPr/>
        </p:nvSpPr>
        <p:spPr>
          <a:xfrm>
            <a:off x="7899400" y="4241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Pessoas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C011A21-65C8-8207-6C67-79E61DDB12AA}"/>
              </a:ext>
            </a:extLst>
          </p:cNvPr>
          <p:cNvSpPr/>
          <p:nvPr/>
        </p:nvSpPr>
        <p:spPr>
          <a:xfrm>
            <a:off x="7505700" y="4889500"/>
            <a:ext cx="203200" cy="2032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74EB4F5-31A2-C993-D24E-E6063B84C35D}"/>
              </a:ext>
            </a:extLst>
          </p:cNvPr>
          <p:cNvSpPr txBox="1"/>
          <p:nvPr/>
        </p:nvSpPr>
        <p:spPr>
          <a:xfrm>
            <a:off x="7899400" y="4851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Autores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98784AD-D90D-51CC-1136-6F366825F162}"/>
              </a:ext>
            </a:extLst>
          </p:cNvPr>
          <p:cNvSpPr/>
          <p:nvPr/>
        </p:nvSpPr>
        <p:spPr>
          <a:xfrm>
            <a:off x="7505700" y="5499100"/>
            <a:ext cx="203200" cy="2032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3CB95A5-488D-FCE8-2193-B274942FEA4A}"/>
              </a:ext>
            </a:extLst>
          </p:cNvPr>
          <p:cNvSpPr txBox="1"/>
          <p:nvPr/>
        </p:nvSpPr>
        <p:spPr>
          <a:xfrm>
            <a:off x="7899400" y="5461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Livros</a:t>
            </a:r>
          </a:p>
        </p:txBody>
      </p:sp>
    </p:spTree>
    <p:extLst>
      <p:ext uri="{BB962C8B-B14F-4D97-AF65-F5344CB8AC3E}">
        <p14:creationId xmlns:p14="http://schemas.microsoft.com/office/powerpoint/2010/main" val="4215015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>
            <a:extLst>
              <a:ext uri="{FF2B5EF4-FFF2-40B4-BE49-F238E27FC236}">
                <a16:creationId xmlns:a16="http://schemas.microsoft.com/office/drawing/2014/main" id="{367D9D7E-F225-9604-6EB6-69B54370FE31}"/>
              </a:ext>
            </a:extLst>
          </p:cNvPr>
          <p:cNvSpPr txBox="1"/>
          <p:nvPr/>
        </p:nvSpPr>
        <p:spPr>
          <a:xfrm>
            <a:off x="393700" y="342900"/>
            <a:ext cx="1140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500">
                <a:solidFill>
                  <a:srgbClr val="000000"/>
                </a:solidFill>
                <a:latin typeface="Arial" panose="020B0604020202020204" pitchFamily="34" charset="0"/>
              </a:rPr>
              <a:t>Etapa 2 — editar e confirmar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CAF335-F2C4-4A71-EB82-91DE03A9EE30}"/>
              </a:ext>
            </a:extLst>
          </p:cNvPr>
          <p:cNvSpPr txBox="1"/>
          <p:nvPr/>
        </p:nvSpPr>
        <p:spPr>
          <a:xfrm>
            <a:off x="11277600" y="62738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55555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B2BAFB9-F8C8-174C-6759-6D763D0BA259}"/>
              </a:ext>
            </a:extLst>
          </p:cNvPr>
          <p:cNvSpPr txBox="1"/>
          <p:nvPr/>
        </p:nvSpPr>
        <p:spPr>
          <a:xfrm>
            <a:off x="4318000" y="13462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 b="1">
                <a:solidFill>
                  <a:srgbClr val="555555"/>
                </a:solidFill>
                <a:latin typeface="Arial" panose="020B0604020202020204" pitchFamily="34" charset="0"/>
              </a:rPr>
              <a:t>ENTIDADE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1E046F6-15D8-4F48-60E2-31922A040DEF}"/>
              </a:ext>
            </a:extLst>
          </p:cNvPr>
          <p:cNvSpPr txBox="1"/>
          <p:nvPr/>
        </p:nvSpPr>
        <p:spPr>
          <a:xfrm>
            <a:off x="6286500" y="13462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 b="1">
                <a:solidFill>
                  <a:srgbClr val="555555"/>
                </a:solidFill>
                <a:latin typeface="Arial" panose="020B0604020202020204" pitchFamily="34" charset="0"/>
              </a:rPr>
              <a:t>CAMPOS VERIFICADOS NA LISTAGEM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DBA93A2-4A91-D055-5E20-39495B4963AC}"/>
              </a:ext>
            </a:extLst>
          </p:cNvPr>
          <p:cNvCxnSpPr/>
          <p:nvPr/>
        </p:nvCxnSpPr>
        <p:spPr>
          <a:xfrm>
            <a:off x="4318000" y="1714500"/>
            <a:ext cx="7467600" cy="0"/>
          </a:xfrm>
          <a:prstGeom prst="line">
            <a:avLst/>
          </a:prstGeom>
          <a:ln w="12700">
            <a:solidFill>
              <a:srgbClr val="B8B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ECC0113-7365-BC31-8BAD-968535CFB4C9}"/>
              </a:ext>
            </a:extLst>
          </p:cNvPr>
          <p:cNvSpPr txBox="1"/>
          <p:nvPr/>
        </p:nvSpPr>
        <p:spPr>
          <a:xfrm>
            <a:off x="4318000" y="18161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Usuário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2AA5F26-1370-9C9A-CED0-46BFB7D56948}"/>
              </a:ext>
            </a:extLst>
          </p:cNvPr>
          <p:cNvSpPr txBox="1"/>
          <p:nvPr/>
        </p:nvSpPr>
        <p:spPr>
          <a:xfrm>
            <a:off x="6286500" y="1816100"/>
            <a:ext cx="549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nome, email e role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187D8B4-F35C-CA24-6E77-59F9B0EE9EC8}"/>
              </a:ext>
            </a:extLst>
          </p:cNvPr>
          <p:cNvCxnSpPr/>
          <p:nvPr/>
        </p:nvCxnSpPr>
        <p:spPr>
          <a:xfrm>
            <a:off x="4318000" y="2489200"/>
            <a:ext cx="7467600" cy="0"/>
          </a:xfrm>
          <a:prstGeom prst="line">
            <a:avLst/>
          </a:prstGeom>
          <a:ln w="12700">
            <a:solidFill>
              <a:srgbClr val="B8B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06A464A-14D2-B150-FD37-DA4922454780}"/>
              </a:ext>
            </a:extLst>
          </p:cNvPr>
          <p:cNvSpPr txBox="1"/>
          <p:nvPr/>
        </p:nvSpPr>
        <p:spPr>
          <a:xfrm>
            <a:off x="4318000" y="25908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Biblioteca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CCD19A7-2734-41C3-2D93-1F954846818A}"/>
              </a:ext>
            </a:extLst>
          </p:cNvPr>
          <p:cNvSpPr txBox="1"/>
          <p:nvPr/>
        </p:nvSpPr>
        <p:spPr>
          <a:xfrm>
            <a:off x="6286500" y="2590800"/>
            <a:ext cx="549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nome, endereço, telefone e email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1B745D7-C147-6901-7EDB-D789B2971A62}"/>
              </a:ext>
            </a:extLst>
          </p:cNvPr>
          <p:cNvCxnSpPr/>
          <p:nvPr/>
        </p:nvCxnSpPr>
        <p:spPr>
          <a:xfrm>
            <a:off x="4318000" y="3263900"/>
            <a:ext cx="7467600" cy="0"/>
          </a:xfrm>
          <a:prstGeom prst="line">
            <a:avLst/>
          </a:prstGeom>
          <a:ln w="12700">
            <a:solidFill>
              <a:srgbClr val="B8B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E20E4BD-DE87-20F8-9336-3B8B6353250A}"/>
              </a:ext>
            </a:extLst>
          </p:cNvPr>
          <p:cNvSpPr txBox="1"/>
          <p:nvPr/>
        </p:nvSpPr>
        <p:spPr>
          <a:xfrm>
            <a:off x="4318000" y="33655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Pessoa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5CC30E3-F1E6-3E9B-B292-B7D3C73DB755}"/>
              </a:ext>
            </a:extLst>
          </p:cNvPr>
          <p:cNvSpPr txBox="1"/>
          <p:nvPr/>
        </p:nvSpPr>
        <p:spPr>
          <a:xfrm>
            <a:off x="6286500" y="3365500"/>
            <a:ext cx="549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nome, email, telefone e matrícula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3CDEF150-9262-6EEF-8190-08B6D8013A5A}"/>
              </a:ext>
            </a:extLst>
          </p:cNvPr>
          <p:cNvCxnSpPr/>
          <p:nvPr/>
        </p:nvCxnSpPr>
        <p:spPr>
          <a:xfrm>
            <a:off x="4318000" y="4038600"/>
            <a:ext cx="7467600" cy="0"/>
          </a:xfrm>
          <a:prstGeom prst="line">
            <a:avLst/>
          </a:prstGeom>
          <a:ln w="12700">
            <a:solidFill>
              <a:srgbClr val="B8B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51CF5CE-D233-CE01-18C0-8C6AFDCA6F8C}"/>
              </a:ext>
            </a:extLst>
          </p:cNvPr>
          <p:cNvSpPr txBox="1"/>
          <p:nvPr/>
        </p:nvSpPr>
        <p:spPr>
          <a:xfrm>
            <a:off x="4318000" y="41402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Autor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EDD5190-31ED-3214-D4FC-2C404B4A54D4}"/>
              </a:ext>
            </a:extLst>
          </p:cNvPr>
          <p:cNvSpPr txBox="1"/>
          <p:nvPr/>
        </p:nvSpPr>
        <p:spPr>
          <a:xfrm>
            <a:off x="6286500" y="4140200"/>
            <a:ext cx="549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nome, nacionalidade e nascimento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3871492-3DBB-6DD7-7398-FDF891C075B3}"/>
              </a:ext>
            </a:extLst>
          </p:cNvPr>
          <p:cNvCxnSpPr/>
          <p:nvPr/>
        </p:nvCxnSpPr>
        <p:spPr>
          <a:xfrm>
            <a:off x="4318000" y="4813300"/>
            <a:ext cx="7467600" cy="0"/>
          </a:xfrm>
          <a:prstGeom prst="line">
            <a:avLst/>
          </a:prstGeom>
          <a:ln w="12700">
            <a:solidFill>
              <a:srgbClr val="B8B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83D7AAD-5FE8-B085-BD30-1AC1464A4D57}"/>
              </a:ext>
            </a:extLst>
          </p:cNvPr>
          <p:cNvSpPr txBox="1"/>
          <p:nvPr/>
        </p:nvSpPr>
        <p:spPr>
          <a:xfrm>
            <a:off x="4318000" y="49149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Livro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7D75E56-BEBA-85ED-997F-F23720F791A8}"/>
              </a:ext>
            </a:extLst>
          </p:cNvPr>
          <p:cNvSpPr txBox="1"/>
          <p:nvPr/>
        </p:nvSpPr>
        <p:spPr>
          <a:xfrm>
            <a:off x="6286500" y="4914900"/>
            <a:ext cx="549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título, ISBN e publicação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FF42F998-F31C-A9E2-8A76-B9233B58D6BB}"/>
              </a:ext>
            </a:extLst>
          </p:cNvPr>
          <p:cNvCxnSpPr/>
          <p:nvPr/>
        </p:nvCxnSpPr>
        <p:spPr>
          <a:xfrm>
            <a:off x="4318000" y="5588000"/>
            <a:ext cx="7467600" cy="0"/>
          </a:xfrm>
          <a:prstGeom prst="line">
            <a:avLst/>
          </a:prstGeom>
          <a:ln w="12700">
            <a:solidFill>
              <a:srgbClr val="B8B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AD9B06A-6A61-7656-6BDD-74930359111C}"/>
              </a:ext>
            </a:extLst>
          </p:cNvPr>
          <p:cNvSpPr txBox="1"/>
          <p:nvPr/>
        </p:nvSpPr>
        <p:spPr>
          <a:xfrm>
            <a:off x="4318000" y="56896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Asserção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EE1C29F-B566-49F7-D739-927D42D99C6A}"/>
              </a:ext>
            </a:extLst>
          </p:cNvPr>
          <p:cNvSpPr txBox="1"/>
          <p:nvPr/>
        </p:nvSpPr>
        <p:spPr>
          <a:xfrm>
            <a:off x="6286500" y="5689600"/>
            <a:ext cx="549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a tabela exibe os novos valores</a:t>
            </a:r>
          </a:p>
        </p:txBody>
      </p:sp>
    </p:spTree>
    <p:extLst>
      <p:ext uri="{BB962C8B-B14F-4D97-AF65-F5344CB8AC3E}">
        <p14:creationId xmlns:p14="http://schemas.microsoft.com/office/powerpoint/2010/main" val="1263953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>
            <a:extLst>
              <a:ext uri="{FF2B5EF4-FFF2-40B4-BE49-F238E27FC236}">
                <a16:creationId xmlns:a16="http://schemas.microsoft.com/office/drawing/2014/main" id="{33236C92-3AEE-06C1-A674-23DAE204D98D}"/>
              </a:ext>
            </a:extLst>
          </p:cNvPr>
          <p:cNvSpPr txBox="1"/>
          <p:nvPr/>
        </p:nvSpPr>
        <p:spPr>
          <a:xfrm>
            <a:off x="393700" y="342900"/>
            <a:ext cx="1140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500">
                <a:solidFill>
                  <a:srgbClr val="000000"/>
                </a:solidFill>
                <a:latin typeface="Arial" panose="020B0604020202020204" pitchFamily="34" charset="0"/>
              </a:rPr>
              <a:t>Etapa 3 — excluir tudo que o teste criou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C5CE5AA-388F-85B7-D76A-6A1C7741F788}"/>
              </a:ext>
            </a:extLst>
          </p:cNvPr>
          <p:cNvSpPr txBox="1"/>
          <p:nvPr/>
        </p:nvSpPr>
        <p:spPr>
          <a:xfrm>
            <a:off x="11277600" y="62738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55555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6B6872-780C-0E86-7FB4-5B399C3F4DA3}"/>
              </a:ext>
            </a:extLst>
          </p:cNvPr>
          <p:cNvSpPr txBox="1"/>
          <p:nvPr/>
        </p:nvSpPr>
        <p:spPr>
          <a:xfrm>
            <a:off x="393700" y="1460500"/>
            <a:ext cx="1140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>
                <a:solidFill>
                  <a:srgbClr val="555555"/>
                </a:solidFill>
                <a:latin typeface="Arial" panose="020B0604020202020204" pitchFamily="34" charset="0"/>
              </a:rPr>
              <a:t>A ordem respeita as dependências e impede que exclusões em cascata escondam verificações.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1746D23-5B8F-B18F-C3B7-C871DD14640C}"/>
              </a:ext>
            </a:extLst>
          </p:cNvPr>
          <p:cNvSpPr/>
          <p:nvPr/>
        </p:nvSpPr>
        <p:spPr>
          <a:xfrm>
            <a:off x="393700" y="3429000"/>
            <a:ext cx="330200" cy="3302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F066170-F80C-046F-BF3E-D0B57FF71115}"/>
              </a:ext>
            </a:extLst>
          </p:cNvPr>
          <p:cNvSpPr txBox="1"/>
          <p:nvPr/>
        </p:nvSpPr>
        <p:spPr>
          <a:xfrm>
            <a:off x="393700" y="27686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FF6B35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82C4E3-45B5-6163-50D6-ABBB2D2C6A00}"/>
              </a:ext>
            </a:extLst>
          </p:cNvPr>
          <p:cNvSpPr txBox="1"/>
          <p:nvPr/>
        </p:nvSpPr>
        <p:spPr>
          <a:xfrm>
            <a:off x="393700" y="4140200"/>
            <a:ext cx="3136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Livro → Autor
Primeiro removemos o vínculo dependente.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B7406DF-0624-E367-0348-E97BB868A561}"/>
              </a:ext>
            </a:extLst>
          </p:cNvPr>
          <p:cNvSpPr/>
          <p:nvPr/>
        </p:nvSpPr>
        <p:spPr>
          <a:xfrm>
            <a:off x="4318000" y="3429000"/>
            <a:ext cx="330200" cy="3302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9BDEE63-ABAA-2BA0-E878-A7AC8843DBAB}"/>
              </a:ext>
            </a:extLst>
          </p:cNvPr>
          <p:cNvSpPr txBox="1"/>
          <p:nvPr/>
        </p:nvSpPr>
        <p:spPr>
          <a:xfrm>
            <a:off x="4318000" y="27686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FF6B35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9B5104-CB35-D3A3-BBA7-B6B66EDED310}"/>
              </a:ext>
            </a:extLst>
          </p:cNvPr>
          <p:cNvSpPr txBox="1"/>
          <p:nvPr/>
        </p:nvSpPr>
        <p:spPr>
          <a:xfrm>
            <a:off x="4318000" y="4140200"/>
            <a:ext cx="3136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Biblioteca
A associação com a pessoa é removida em cascata.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4229CB0-9C1E-510D-6174-CBB38C9D0002}"/>
              </a:ext>
            </a:extLst>
          </p:cNvPr>
          <p:cNvSpPr/>
          <p:nvPr/>
        </p:nvSpPr>
        <p:spPr>
          <a:xfrm>
            <a:off x="8661400" y="3429000"/>
            <a:ext cx="330200" cy="3302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75A1014-4948-B09E-86F2-E7C003B9F699}"/>
              </a:ext>
            </a:extLst>
          </p:cNvPr>
          <p:cNvSpPr txBox="1"/>
          <p:nvPr/>
        </p:nvSpPr>
        <p:spPr>
          <a:xfrm>
            <a:off x="8661400" y="27686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 b="1">
                <a:solidFill>
                  <a:srgbClr val="FF6B35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1A754DC-C36D-1BC7-514E-415B4123F428}"/>
              </a:ext>
            </a:extLst>
          </p:cNvPr>
          <p:cNvSpPr txBox="1"/>
          <p:nvPr/>
        </p:nvSpPr>
        <p:spPr>
          <a:xfrm>
            <a:off x="8661400" y="4140200"/>
            <a:ext cx="3136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Pessoa → Usuário
O teste termina sem deixar seus dados.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599E03D-5930-09FE-6A5D-17BCF8D2FFD4}"/>
              </a:ext>
            </a:extLst>
          </p:cNvPr>
          <p:cNvSpPr txBox="1"/>
          <p:nvPr/>
        </p:nvSpPr>
        <p:spPr>
          <a:xfrm>
            <a:off x="393700" y="5791200"/>
            <a:ext cx="1140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Cada exclusão aceita uma confirmação e verifica que a linha desapareceu.</a:t>
            </a:r>
          </a:p>
        </p:txBody>
      </p:sp>
    </p:spTree>
    <p:extLst>
      <p:ext uri="{BB962C8B-B14F-4D97-AF65-F5344CB8AC3E}">
        <p14:creationId xmlns:p14="http://schemas.microsoft.com/office/powerpoint/2010/main" val="617164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>
            <a:extLst>
              <a:ext uri="{FF2B5EF4-FFF2-40B4-BE49-F238E27FC236}">
                <a16:creationId xmlns:a16="http://schemas.microsoft.com/office/drawing/2014/main" id="{24D9F852-7633-6CA3-74CC-E76D3A0019DD}"/>
              </a:ext>
            </a:extLst>
          </p:cNvPr>
          <p:cNvSpPr txBox="1"/>
          <p:nvPr/>
        </p:nvSpPr>
        <p:spPr>
          <a:xfrm>
            <a:off x="393700" y="342900"/>
            <a:ext cx="1140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500">
                <a:solidFill>
                  <a:srgbClr val="000000"/>
                </a:solidFill>
                <a:latin typeface="Arial" panose="020B0604020202020204" pitchFamily="34" charset="0"/>
              </a:rPr>
              <a:t>Os testes também melhoraram o sistema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0B56E7-9D22-641F-AE36-A251AB250FDF}"/>
              </a:ext>
            </a:extLst>
          </p:cNvPr>
          <p:cNvSpPr txBox="1"/>
          <p:nvPr/>
        </p:nvSpPr>
        <p:spPr>
          <a:xfrm>
            <a:off x="11277600" y="62738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55555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676E338-5174-2F45-31B4-8F82EC6117CE}"/>
              </a:ext>
            </a:extLst>
          </p:cNvPr>
          <p:cNvSpPr txBox="1"/>
          <p:nvPr/>
        </p:nvSpPr>
        <p:spPr>
          <a:xfrm>
            <a:off x="393700" y="23368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ACHADO PRINCIPAL
A versão original não permitia concluir o CRUD inteiro pela interface.
As correções ficaram isoladas na imagem Docker e documentadas.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107135A-67FF-CCF6-F38D-173CACBC88E9}"/>
              </a:ext>
            </a:extLst>
          </p:cNvPr>
          <p:cNvSpPr/>
          <p:nvPr/>
        </p:nvSpPr>
        <p:spPr>
          <a:xfrm>
            <a:off x="4483100" y="2387600"/>
            <a:ext cx="190500" cy="1905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D67845E-BE0C-BD36-FDF0-AC8B69E6FF28}"/>
              </a:ext>
            </a:extLst>
          </p:cNvPr>
          <p:cNvSpPr txBox="1"/>
          <p:nvPr/>
        </p:nvSpPr>
        <p:spPr>
          <a:xfrm>
            <a:off x="4838700" y="23495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Arial" panose="020B0604020202020204" pitchFamily="34" charset="0"/>
              </a:rPr>
              <a:t>Exclusão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84014D3-B243-6A4D-33EF-1076C7357D17}"/>
              </a:ext>
            </a:extLst>
          </p:cNvPr>
          <p:cNvSpPr txBox="1"/>
          <p:nvPr/>
        </p:nvSpPr>
        <p:spPr>
          <a:xfrm>
            <a:off x="6959600" y="23495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>
                <a:solidFill>
                  <a:srgbClr val="000000"/>
                </a:solidFill>
                <a:latin typeface="Arial" panose="020B0604020202020204" pitchFamily="34" charset="0"/>
              </a:rPr>
              <a:t>botões ausentes e métodos destroy incompletos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666EFA7-BBDD-01B7-D49D-2025126B8385}"/>
              </a:ext>
            </a:extLst>
          </p:cNvPr>
          <p:cNvSpPr/>
          <p:nvPr/>
        </p:nvSpPr>
        <p:spPr>
          <a:xfrm>
            <a:off x="4483100" y="3378200"/>
            <a:ext cx="190500" cy="1905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A8E32B-195C-63B4-0256-8070646984E3}"/>
              </a:ext>
            </a:extLst>
          </p:cNvPr>
          <p:cNvSpPr txBox="1"/>
          <p:nvPr/>
        </p:nvSpPr>
        <p:spPr>
          <a:xfrm>
            <a:off x="4838700" y="33401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Arial" panose="020B0604020202020204" pitchFamily="34" charset="0"/>
              </a:rPr>
              <a:t>Formulários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4BD6441-7C4A-75B6-99DB-9290BA883BCE}"/>
              </a:ext>
            </a:extLst>
          </p:cNvPr>
          <p:cNvSpPr txBox="1"/>
          <p:nvPr/>
        </p:nvSpPr>
        <p:spPr>
          <a:xfrm>
            <a:off x="6959600" y="33401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>
                <a:solidFill>
                  <a:srgbClr val="000000"/>
                </a:solidFill>
                <a:latin typeface="Arial" panose="020B0604020202020204" pitchFamily="34" charset="0"/>
              </a:rPr>
              <a:t>edição de autor enviava o método HTTP errado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2A68294-5AA7-86CE-7562-C757200B268D}"/>
              </a:ext>
            </a:extLst>
          </p:cNvPr>
          <p:cNvSpPr/>
          <p:nvPr/>
        </p:nvSpPr>
        <p:spPr>
          <a:xfrm>
            <a:off x="4483100" y="4368800"/>
            <a:ext cx="190500" cy="1905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CC2BE1-04AE-82D2-460E-AA4039D698D8}"/>
              </a:ext>
            </a:extLst>
          </p:cNvPr>
          <p:cNvSpPr txBox="1"/>
          <p:nvPr/>
        </p:nvSpPr>
        <p:spPr>
          <a:xfrm>
            <a:off x="4838700" y="43307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Arial" panose="020B0604020202020204" pitchFamily="34" charset="0"/>
              </a:rPr>
              <a:t>Persistência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C65B04F-58BC-615E-0258-1EEAC6481C03}"/>
              </a:ext>
            </a:extLst>
          </p:cNvPr>
          <p:cNvSpPr txBox="1"/>
          <p:nvPr/>
        </p:nvSpPr>
        <p:spPr>
          <a:xfrm>
            <a:off x="6959600" y="43307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>
                <a:solidFill>
                  <a:srgbClr val="000000"/>
                </a:solidFill>
                <a:latin typeface="Arial" panose="020B0604020202020204" pitchFamily="34" charset="0"/>
              </a:rPr>
              <a:t>telefone, email, role e nascimento eram descartados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24C2E65-BB9B-3388-E141-B597081DCCED}"/>
              </a:ext>
            </a:extLst>
          </p:cNvPr>
          <p:cNvSpPr/>
          <p:nvPr/>
        </p:nvSpPr>
        <p:spPr>
          <a:xfrm>
            <a:off x="4483100" y="5359400"/>
            <a:ext cx="190500" cy="1905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F8EB77-0359-BAF3-35C5-49A90B65C698}"/>
              </a:ext>
            </a:extLst>
          </p:cNvPr>
          <p:cNvSpPr txBox="1"/>
          <p:nvPr/>
        </p:nvSpPr>
        <p:spPr>
          <a:xfrm>
            <a:off x="4838700" y="53213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b="1">
                <a:solidFill>
                  <a:srgbClr val="000000"/>
                </a:solidFill>
                <a:latin typeface="Arial" panose="020B0604020202020204" pitchFamily="34" charset="0"/>
              </a:rPr>
              <a:t>Navegação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7B82018-8949-2033-38B9-B4FA6FB61571}"/>
              </a:ext>
            </a:extLst>
          </p:cNvPr>
          <p:cNvSpPr txBox="1"/>
          <p:nvPr/>
        </p:nvSpPr>
        <p:spPr>
          <a:xfrm>
            <a:off x="6959600" y="5321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>
                <a:solidFill>
                  <a:srgbClr val="000000"/>
                </a:solidFill>
                <a:latin typeface="Arial" panose="020B0604020202020204" pitchFamily="34" charset="0"/>
              </a:rPr>
              <a:t>ações de editar/excluir foram padronizadas</a:t>
            </a:r>
          </a:p>
        </p:txBody>
      </p:sp>
    </p:spTree>
    <p:extLst>
      <p:ext uri="{BB962C8B-B14F-4D97-AF65-F5344CB8AC3E}">
        <p14:creationId xmlns:p14="http://schemas.microsoft.com/office/powerpoint/2010/main" val="2025694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>
            <a:extLst>
              <a:ext uri="{FF2B5EF4-FFF2-40B4-BE49-F238E27FC236}">
                <a16:creationId xmlns:a16="http://schemas.microsoft.com/office/drawing/2014/main" id="{78043A38-352B-D52D-0FFA-BA5C09341D48}"/>
              </a:ext>
            </a:extLst>
          </p:cNvPr>
          <p:cNvSpPr txBox="1"/>
          <p:nvPr/>
        </p:nvSpPr>
        <p:spPr>
          <a:xfrm>
            <a:off x="393700" y="342900"/>
            <a:ext cx="1140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500">
                <a:solidFill>
                  <a:srgbClr val="000000"/>
                </a:solidFill>
                <a:latin typeface="Arial" panose="020B0604020202020204" pitchFamily="34" charset="0"/>
              </a:rPr>
              <a:t>Execução da demonstração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53222A3-71B5-D1A1-ADE8-0028185C0851}"/>
              </a:ext>
            </a:extLst>
          </p:cNvPr>
          <p:cNvSpPr txBox="1"/>
          <p:nvPr/>
        </p:nvSpPr>
        <p:spPr>
          <a:xfrm>
            <a:off x="11277600" y="62738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55555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4DC0E7E-24AE-E6C3-E04E-1E598C955D2B}"/>
              </a:ext>
            </a:extLst>
          </p:cNvPr>
          <p:cNvSpPr/>
          <p:nvPr/>
        </p:nvSpPr>
        <p:spPr>
          <a:xfrm>
            <a:off x="393700" y="2019300"/>
            <a:ext cx="7112000" cy="27813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1505C23-3A90-D96B-9785-54298430DA8C}"/>
              </a:ext>
            </a:extLst>
          </p:cNvPr>
          <p:cNvSpPr txBox="1"/>
          <p:nvPr/>
        </p:nvSpPr>
        <p:spPr>
          <a:xfrm>
            <a:off x="698500" y="24384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docker compose up --build -d database app
docker compose run --rm tests</a:t>
            </a:r>
            <a:endParaRPr lang="pt-BR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71749C8-6B2A-655A-24CE-773701D07598}"/>
              </a:ext>
            </a:extLst>
          </p:cNvPr>
          <p:cNvSpPr txBox="1"/>
          <p:nvPr/>
        </p:nvSpPr>
        <p:spPr>
          <a:xfrm>
            <a:off x="8064500" y="2019300"/>
            <a:ext cx="373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 b="1">
                <a:solidFill>
                  <a:srgbClr val="FF6B35"/>
                </a:solidFill>
                <a:latin typeface="Arial" panose="020B0604020202020204" pitchFamily="34" charset="0"/>
              </a:rPr>
              <a:t>RESULTADO ESPERADO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922EEDB-7FCF-5BC3-15B7-0817CA2BC787}"/>
              </a:ext>
            </a:extLst>
          </p:cNvPr>
          <p:cNvSpPr txBox="1"/>
          <p:nvPr/>
        </p:nvSpPr>
        <p:spPr>
          <a:xfrm>
            <a:off x="8064500" y="2527300"/>
            <a:ext cx="373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800" b="1">
                <a:solidFill>
                  <a:srgbClr val="000000"/>
                </a:solidFill>
                <a:latin typeface="Arial" panose="020B0604020202020204" pitchFamily="34" charset="0"/>
              </a:rPr>
              <a:t>3 passed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C9F5A08-D3AB-DCFF-922B-D7C94B0E163C}"/>
              </a:ext>
            </a:extLst>
          </p:cNvPr>
          <p:cNvSpPr txBox="1"/>
          <p:nvPr/>
        </p:nvSpPr>
        <p:spPr>
          <a:xfrm>
            <a:off x="8064500" y="3632200"/>
            <a:ext cx="373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Aplicação
localhost:8000
Relatório
playwright-report/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6DF811B-98D1-2442-D4EB-2B330386F246}"/>
              </a:ext>
            </a:extLst>
          </p:cNvPr>
          <p:cNvSpPr txBox="1"/>
          <p:nvPr/>
        </p:nvSpPr>
        <p:spPr>
          <a:xfrm>
            <a:off x="393700" y="5448300"/>
            <a:ext cx="1140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>
                <a:solidFill>
                  <a:srgbClr val="555555"/>
                </a:solidFill>
                <a:latin typeface="Arial" panose="020B0604020202020204" pitchFamily="34" charset="0"/>
              </a:rPr>
              <a:t>Em falhas: trace, screenshot e vídeo ficam disponíveis para diagnóstico.</a:t>
            </a:r>
          </a:p>
        </p:txBody>
      </p:sp>
    </p:spTree>
    <p:extLst>
      <p:ext uri="{BB962C8B-B14F-4D97-AF65-F5344CB8AC3E}">
        <p14:creationId xmlns:p14="http://schemas.microsoft.com/office/powerpoint/2010/main" val="430642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E6B17CD-C960-BA29-29F8-5B5496ED8169}"/>
              </a:ext>
            </a:extLst>
          </p:cNvPr>
          <p:cNvSpPr/>
          <p:nvPr/>
        </p:nvSpPr>
        <p:spPr>
          <a:xfrm>
            <a:off x="5943600" y="0"/>
            <a:ext cx="6248400" cy="6858000"/>
          </a:xfrm>
          <a:prstGeom prst="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03F1E2-9237-60F0-3794-3987C6DF16FC}"/>
              </a:ext>
            </a:extLst>
          </p:cNvPr>
          <p:cNvSpPr txBox="1"/>
          <p:nvPr/>
        </p:nvSpPr>
        <p:spPr>
          <a:xfrm>
            <a:off x="393700" y="4064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900">
                <a:solidFill>
                  <a:srgbClr val="000000"/>
                </a:solidFill>
                <a:latin typeface="Arial" panose="020B0604020202020204" pitchFamily="34" charset="0"/>
              </a:rPr>
              <a:t>Jornada completa
validada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187FD6A-2237-5987-3F80-810378B29810}"/>
              </a:ext>
            </a:extLst>
          </p:cNvPr>
          <p:cNvSpPr txBox="1"/>
          <p:nvPr/>
        </p:nvSpPr>
        <p:spPr>
          <a:xfrm>
            <a:off x="6261100" y="30988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pt-BR" sz="3900">
                <a:solidFill>
                  <a:srgbClr val="000000"/>
                </a:solidFill>
                <a:latin typeface="Arial" panose="020B0604020202020204" pitchFamily="34" charset="0"/>
              </a:rPr>
              <a:t>Listar.
Criar.
Editar.
Excluir.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A0DB957-A788-F7CF-7B82-4C205F077202}"/>
              </a:ext>
            </a:extLst>
          </p:cNvPr>
          <p:cNvSpPr txBox="1"/>
          <p:nvPr/>
        </p:nvSpPr>
        <p:spPr>
          <a:xfrm>
            <a:off x="393700" y="59436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 b="1">
                <a:solidFill>
                  <a:srgbClr val="FF6B35"/>
                </a:solidFill>
                <a:latin typeface="Arial" panose="020B0604020202020204" pitchFamily="34" charset="0"/>
              </a:rPr>
              <a:t>PRONTO PARA A DEMONSTRAÇÃO AO VIVO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1F36DC-8DCD-EB47-D2FA-48ECBFBA396B}"/>
              </a:ext>
            </a:extLst>
          </p:cNvPr>
          <p:cNvSpPr txBox="1"/>
          <p:nvPr/>
        </p:nvSpPr>
        <p:spPr>
          <a:xfrm>
            <a:off x="11277600" y="62738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000">
                <a:solidFill>
                  <a:srgbClr val="555555"/>
                </a:solidFill>
                <a:latin typeface="Arial" panose="020B06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69368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Personalizar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Henrique Alves Cotrin</dc:creator>
  <cp:lastModifiedBy>Thiago Henrique Alves Cotrin</cp:lastModifiedBy>
  <cp:revision>1</cp:revision>
  <dcterms:created xsi:type="dcterms:W3CDTF">2026-06-30T15:29:49Z</dcterms:created>
  <dcterms:modified xsi:type="dcterms:W3CDTF">2026-06-30T15:29:49Z</dcterms:modified>
</cp:coreProperties>
</file>